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22413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HS Classification Intelligence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495996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Sistem klasifikasi kode HS berbasis AI untuk barang impor — mengikuti cara kerja ahli kepabeanan sesuai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BTKI 2022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dan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PMK 26/2022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032447"/>
            <a:ext cx="2776091" cy="188565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6" name="Text 3"/>
          <p:cNvSpPr/>
          <p:nvPr/>
        </p:nvSpPr>
        <p:spPr>
          <a:xfrm>
            <a:off x="570533" y="3069654"/>
            <a:ext cx="308446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STATUS: V1 (MVP) BERJALAN · V2 DALAM PERENCANAAN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15342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Apa Itu Sistem Ini?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288926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Sistem ini adalah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asisten klasifikasi kode HS berbasis AI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yang membantu menentukan kode HS (Harmonized System) yang tepat untuk barang impor sesuai BTKI 2022.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023839"/>
            <a:ext cx="4722763" cy="13386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0530" y="2162101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Bukan Sekadar Pencarian Kata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120530" y="2430363"/>
            <a:ext cx="438909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Berbeda dari pencarian kode HS biasa yang hanya mencocokkan kata, sistem ini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meniru cara kerja ahli kepabeanan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menganalisis fakta teknis barang, lalu mengujinya menggunakan aturan hukum KUM HS secara berurutan, persis seperti yang dilakukan pejabat DJBC.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486448"/>
            <a:ext cx="4722763" cy="9417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20530" y="3624709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Output Adalah Rekomendasi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120530" y="3892972"/>
            <a:ext cx="43890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Output sistem ini adalah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rekomendasi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bukan penetapan resmi DJBC. Selalu verifikasi dengan ahli kepabeanan untuk keperluan dokumen resmi.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376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Kondisi Saat Ini — V1 (Sudah Berjalan)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49338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V1 sudah dapat digunakan dan mencakup fitur-fitur berikut untuk membantu klasifikasi HS secara terstruktur: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87326"/>
            <a:ext cx="2634555" cy="1409179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20092" y="1711300"/>
            <a:ext cx="372070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412" y="1813545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2207344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Form Input Terstruktur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0092" y="2475607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Isi fakta barang: nama, material, fungsi, kondisi, spesifikasi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54648" y="1587326"/>
            <a:ext cx="2634630" cy="1409179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3378622" y="1711300"/>
            <a:ext cx="372070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0941" y="1813545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8622" y="2207344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Analisis KUM HS 1–6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78622" y="2475607"/>
            <a:ext cx="23866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reasoning menggunakan aturan hukum secara berurutan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13252" y="1587326"/>
            <a:ext cx="2634555" cy="1409179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6137225" y="1711300"/>
            <a:ext cx="372070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9545" y="1813545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7225" y="2207344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Rekomendasi Kode HS 8-Digit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37225" y="2475607"/>
            <a:ext cx="238660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Sesuai format BTKI nasional Indonesia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96119" y="3120479"/>
            <a:ext cx="2634555" cy="1409179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20092" y="3244453"/>
            <a:ext cx="372070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412" y="3346698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0092" y="3740497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Penjelasan Reasoning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0092" y="4008760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Kenapa kode dipilih, kenapa kode lain dieliminasi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54648" y="3120479"/>
            <a:ext cx="2634630" cy="1409179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3378622" y="3244453"/>
            <a:ext cx="372070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80941" y="3346698"/>
            <a:ext cx="167432" cy="1674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78622" y="3740497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Confidence Level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78622" y="4008760"/>
            <a:ext cx="23866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TINGGI / SEDANG / RENDAH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13252" y="3120479"/>
            <a:ext cx="2634555" cy="1409179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6137225" y="3244453"/>
            <a:ext cx="372070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9545" y="3346698"/>
            <a:ext cx="167432" cy="1674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37225" y="3740497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Flag "Perlu Expert Review"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37225" y="4008760"/>
            <a:ext cx="238660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Otomatis jika kasus kompleks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111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Keterbatasan V1 yang Perlu Diketahui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1668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Meskipun V1 sudah dapat digunakan, terdapat beberapa keterbatasan yang perlu dipahami pengguna saat ini: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254672"/>
            <a:ext cx="4103191" cy="1607641"/>
          </a:xfrm>
          <a:prstGeom prst="roundRect">
            <a:avLst>
              <a:gd name="adj" fmla="val 115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37864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Yang Belum Tersedia di V1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696468"/>
            <a:ext cx="3855244" cy="1122462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Belum ada informasi tarif, bea masuk, dan pajak impor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Tidak ada history / riwayat klasifikasi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barang yang diisi tidak tersimpan (setiap session baru dari awal)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Hanya bisa diakses via browser, belum ada login/akun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37864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Risiko yang Perlu Diperhatikan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696468"/>
            <a:ext cx="3924598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Hasil bisa tidak akurat jika AI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"mengarang" kode HS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yang tidak ada di BTKI — risiko ini akan diperbaiki di V2 melalui sistem validasi berlapis.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Informasi tarif, bea masuk, dan pajak impor belum tersedia di V1 — fitur baru ini akan ditambahkan di V2.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862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Transformasi V1 → V2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3419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V2 adalah pengembangan besar yang mengubah sistem dari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"asisten berbasis AI saja"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menjadi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sistem klasifikasi legal-grade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yang bisa dipertanggungjawabkan secara hukum.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70646"/>
            <a:ext cx="8151763" cy="2174230"/>
          </a:xfrm>
          <a:prstGeom prst="roundRect">
            <a:avLst>
              <a:gd name="adj" fmla="val 85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434605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796183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57761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519339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880917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070646"/>
            <a:ext cx="7753" cy="21742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4855" y="2154585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V1 (Sekarang)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98355" y="2154585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V2 (Yang Akan Dikembangkan)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4855" y="2516163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yang menentukan kode HS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8355" y="2516163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hanya bantu ekstraksi fakta — kode HS wajib dari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4855" y="2877741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BTKI hanya ~105 entri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98355" y="2877741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 BTKI lengkap — 11.491 kode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4855" y="3239319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Tidak ada tarif &amp; pajak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98355" y="3239319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Info MFN, FTA, PPN, PPh 22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855" y="3600896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Tidak ada riwayat/akun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8355" y="3600896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Login, history, audit trail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4855" y="3962474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Tidak ada verifikasi kode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98355" y="3962474"/>
            <a:ext cx="42779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Setiap kode HS divalidasi ke database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974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Fitur Utama V2 — Database &amp; Mesin Klasifikasi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35608"/>
            <a:ext cx="1133921" cy="700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46721"/>
            <a:ext cx="1955155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Database BTKI Lengkap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96119" y="1963192"/>
            <a:ext cx="1955155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Semua </a:t>
            </a:r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11.491 kode HS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BTKI 2022 tersimpan di database, bilingual (Indonesia &amp; Inggris), terstruktur per seksi → bab → heading → subheading.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630" y="935608"/>
            <a:ext cx="1133921" cy="700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1630" y="1746721"/>
            <a:ext cx="1955155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Mesin Klasifikasi Deterministik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61630" y="1963192"/>
            <a:ext cx="1955155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Tidak lagi bergantung sepenuhnya pada AI untuk memutuskan kode. KUM HS 1–6 diimplementasi sebagai aturan program yang jelas dan bisa diaudit.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141" y="935608"/>
            <a:ext cx="1133921" cy="700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27141" y="1746721"/>
            <a:ext cx="1955155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Penelusuran Sumber (Audit Trail)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627141" y="1963192"/>
            <a:ext cx="1955155" cy="926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Setiap rekomendasi kode HS dan tarif dapat ditelusuri kembali ke sumber dokumennya — dari paragraf mana di BTKI, dari pasal mana di Catatan Bab/Bagian, dari EN (Explanatory Notes) yang mana.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652" y="935608"/>
            <a:ext cx="1133996" cy="7008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92652" y="1746796"/>
            <a:ext cx="1955229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Riwayat &amp; Akun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692652" y="1963266"/>
            <a:ext cx="1955229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Login, history klasifikasi, ekspor hasil ke PDF/Excel.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066231"/>
            <a:ext cx="1133921" cy="7007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877345"/>
            <a:ext cx="1955155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Sistem Validasi Berlapis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496119" y="4093815"/>
            <a:ext cx="1955155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Kode HS yang tidak ada di database BTKI secara otomatis ditolak — menghilangkan risiko AI "mengarang" kode yang tidak valid.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630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Fitur Baru V2 — Informasi Tarif &amp; Pajak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56890"/>
            <a:ext cx="860896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Setelah kode HS ditentukan, sistem langsung menampilkan informasi tarif dan pajak impor secara lengkap: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77020"/>
            <a:ext cx="8151763" cy="1909614"/>
          </a:xfrm>
          <a:prstGeom prst="roundRect">
            <a:avLst>
              <a:gd name="adj" fmla="val 94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622524"/>
            <a:ext cx="8151763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965647"/>
            <a:ext cx="8151763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498006"/>
            <a:ext cx="8151763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841129"/>
            <a:ext cx="8151763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0985" y="1356345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Informasi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2104" y="1356345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Keterangan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0985" y="1699468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Tarif MFN (Bea Masuk Umum)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2104" y="1699468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Tarif yang berlaku dari BTKI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0985" y="2042592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Tarif FTA (Perjanjian Dagang)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2104" y="2042592"/>
            <a:ext cx="3830910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ASEAN, CAFTA, EPA, dll — ditampilkan sebagai referensi, bukan kepastian eligibilitas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0985" y="2574950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PPN Impor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92104" y="2574950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Tarif standar dari BTKI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985" y="2918073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PPh Pasal 22 Impor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2104" y="2918073"/>
            <a:ext cx="42881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Tarif standar dari BTKI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3448422"/>
            <a:ext cx="3929286" cy="1215554"/>
          </a:xfrm>
          <a:prstGeom prst="roundRect">
            <a:avLst>
              <a:gd name="adj" fmla="val 1483"/>
            </a:avLst>
          </a:prstGeom>
          <a:solidFill>
            <a:srgbClr val="CCD7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23" y="3618235"/>
            <a:ext cx="150168" cy="1201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86495" y="3583112"/>
            <a:ext cx="3418805" cy="946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Catatan Penting FTA: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Tarif FTA yang ditampilkan adalah referensi ketersediaan, bukan jaminan keberlakuan. Eligibilitas FTA tergantung asal barang, pemenuhan Rules of Origin, kepemilikan Certificate of Origin, dan persyaratan prosedural lainnya.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23358" y="3448422"/>
            <a:ext cx="3929286" cy="837084"/>
          </a:xfrm>
          <a:prstGeom prst="roundRect">
            <a:avLst>
              <a:gd name="adj" fmla="val 2153"/>
            </a:avLst>
          </a:prstGeom>
          <a:solidFill>
            <a:srgbClr val="CCD7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3618235"/>
            <a:ext cx="150168" cy="1201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13734" y="3583112"/>
            <a:ext cx="3418805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Catatan PPN &amp; PPh 22: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Tarif ditampilkan berdasarkan BTKI standar. Fasilitas pembebasan, pengurangan, atau tarif khusus berdasarkan PMK tertentu tidak dicakup di fase ini.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04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Rencana Pengembangan — Bulan 1 &amp;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037630"/>
            <a:ext cx="4103191" cy="3641750"/>
          </a:xfrm>
          <a:prstGeom prst="roundRect">
            <a:avLst>
              <a:gd name="adj" fmla="val 511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161604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Bulan 1 — Fondasi Database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479426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1–2: Setup Infrastruktur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796" y="1789509"/>
            <a:ext cx="3855244" cy="682154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Setup project backend (C# ASP.NET Core)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Setup database MySQL dengan schema lengkap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Import semua 11.491 kode HS dari BTKI 2022 ke database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796" y="2583284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3–4: Manajemen Versi 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2893368"/>
            <a:ext cx="3855244" cy="1079078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Sistem versi data BTKI (untuk mengakomodasi revisi PMK di masa depan)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Import data Explanatory Notes (EN) — panduan interpretasi resmi WCO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Import Catatan Bab/Bagian legal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796" y="4084067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Hasil akhir Bulan 1: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Database BTKI lengkap, bisa di-query, siap dipakai oleh mesin klasifikasi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1161604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Bulan 2 — Mesin Klasifikasi &amp;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1479426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1–2: Ekstraksi Fakta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1789509"/>
            <a:ext cx="3924598" cy="682154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dipakai untuk mengekstrak fakta dari input teks bebas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35 tipe fakta (nama, material, fungsi, dimensi, kapasitas, dll)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Deteksi konflik antar fakta, tanya konfirmasi ke user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8046" y="2583284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3–4: Mesin KUM HS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28046" y="2893368"/>
            <a:ext cx="3924598" cy="1165845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KUM HS 1 (heading terms + Catatan Bab)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KUM HS 2 (barang tidak lengkap, campuran material)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KUM HS 3 (spesifisitas, essential character, urutan numerik)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KUM HS 4 &amp; 5 (most akin, kemasan &amp; peti)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KUM HS 6 (descent ke subheading 6-digit → 8-digit)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28046" y="4170834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Hasil akhir Bulan 2: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Mesin klasifikasi berjalan, dapat menghasilkan rekomendasi kode HS berdasarkan database, bukan tebakan AI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0702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Rencana Pengembangan — Bulan 3 &amp;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86656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Bulan 3 — Tarif, Validasi &amp;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264146"/>
            <a:ext cx="43959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1–2: Informasi Tarif &amp; Pajak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527274"/>
            <a:ext cx="3938736" cy="792733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Lookup tarif MFN (Bea Masuk Umum) per kode HS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Lookup tarif FTA (semua skema perjanjian dagang) dengan disclaimer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Lookup PPN dan PPh Pasal 22 impor dengan disclaimer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Validasi tanggal berlaku tarif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2411685"/>
            <a:ext cx="43959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3–4: Validasi &amp; API Backend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2674813"/>
            <a:ext cx="3938736" cy="792733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Sistem validasi: kode HS wajib ada di database BTKI aktif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endpoint untuk klasifikasi, riwayat, tarif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Sistem autentikasi (login/akun)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 trail — setiap keputusan bisa ditelusuri ke sumbernya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3559225"/>
            <a:ext cx="43959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Hasil akhir Bulan 3: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Sistem backend lengkap, API siap dipakai frontend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32945" y="884783"/>
            <a:ext cx="4100661" cy="3878014"/>
          </a:xfrm>
          <a:prstGeom prst="roundRect">
            <a:avLst>
              <a:gd name="adj" fmla="val 435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4745310" y="986656"/>
            <a:ext cx="387593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Bulan 4 — Frontend, Integrasi &amp; Peluncuran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5310" y="1264146"/>
            <a:ext cx="43331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1–2: Update Frontend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45310" y="1527274"/>
            <a:ext cx="3875931" cy="792733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Update tampilan React untuk konek ke backend V2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Tampilan baru: iterasi pertanyaan (AI tanya fakta yang kurang)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Tampilan hasil tarif lengkap dengan disclaimer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Tampilan reasoning chain yang bisa diklik ke sumber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45310" y="2411685"/>
            <a:ext cx="43331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3: Admin Panel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45310" y="2674813"/>
            <a:ext cx="3875931" cy="585639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Dashboard admin untuk upload &amp; kelola data BTKI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Antarmuka validasi data sebelum diaktifkan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Manajemen versi data (BTKI 2022, siap untuk update berikutnya)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45310" y="3352130"/>
            <a:ext cx="43331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Minggu 4: Testing &amp; Peluncuran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45310" y="3615258"/>
            <a:ext cx="3875931" cy="792733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Testing akhir seluruh alur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Dokumentasi update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 ke production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Handover ke tim operasional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45310" y="4499670"/>
            <a:ext cx="43331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Hasil akhir Bulan 4: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V2 siap digunakan, semua fitur aktif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1698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Ringkasan Timeline Pengembangan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26753"/>
            <a:ext cx="86089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Proyek V2 direncanakan selesai dalam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3–4 bulan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dengan empat fase utama yang saling berurutan: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12800"/>
            <a:ext cx="4075881" cy="4496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484" y="1764283"/>
            <a:ext cx="385115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Bulan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8484" y="2000994"/>
            <a:ext cx="38511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 BTKI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08484" y="2233538"/>
            <a:ext cx="3851151" cy="378544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Setup backend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Import 11.491 kode HS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12800"/>
            <a:ext cx="4075881" cy="4496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84365" y="1764283"/>
            <a:ext cx="385115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Bulan 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684365" y="2000994"/>
            <a:ext cx="38511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Mesin KUM HS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684365" y="2233538"/>
            <a:ext cx="3851151" cy="378544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Ekstraksi fakta AI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KUM HS 1–6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724448"/>
            <a:ext cx="4075881" cy="4496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484" y="3275930"/>
            <a:ext cx="385115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Bulan 3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08484" y="3512641"/>
            <a:ext cx="38511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Tarif &amp; Pajak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08484" y="3745185"/>
            <a:ext cx="3851151" cy="378544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Validasi kode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&amp; Auth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24448"/>
            <a:ext cx="4075881" cy="4496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84365" y="3275930"/>
            <a:ext cx="385115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Bulan 4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684365" y="3512641"/>
            <a:ext cx="38511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Frontend &amp; Launch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4684365" y="3745185"/>
            <a:ext cx="3851151" cy="378544"/>
          </a:xfrm>
          <a:prstGeom prst="rect">
            <a:avLst/>
          </a:prstGeom>
          <a:noFill/>
          <a:ln/>
        </p:spPr>
        <p:txBody>
          <a:bodyPr wrap="square" lIns="0" tIns="44967" rIns="0" bIns="0" rtlCol="0" anchor="t">
            <a:normAutofit/>
          </a:bodyPr>
          <a:lstStyle/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Admin panel</a:t>
            </a:r>
            <a:endParaRPr lang="en-US" sz="850" dirty="0"/>
          </a:p>
          <a:p>
            <a:pPr algn="l" marL="172720" indent="-172720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Testing &amp; Deploy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96119" y="4350693"/>
            <a:ext cx="8151763" cy="421109"/>
          </a:xfrm>
          <a:prstGeom prst="roundRect">
            <a:avLst>
              <a:gd name="adj" fmla="val 4004"/>
            </a:avLst>
          </a:prstGeom>
          <a:solidFill>
            <a:srgbClr val="CCD7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84" y="4496544"/>
            <a:ext cx="140494" cy="1123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1343" y="4480620"/>
            <a:ext cx="81313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Dokumen ini akan diperbarui seiring perkembangan proyek. Pertanyaan: hubungi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Tim IT SMART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2026-08-18T15:19:29Z</dcterms:created>
  <dcterms:modified xsi:type="dcterms:W3CDTF">2026-08-18T15:19:29Z</dcterms:modified>
</cp:coreProperties>
</file>